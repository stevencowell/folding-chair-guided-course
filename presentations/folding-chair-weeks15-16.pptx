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66cefe25054aa8" /><Relationship Type="http://schemas.openxmlformats.org/officeDocument/2006/relationships/extended-properties" Target="/docProps/app.xml" Id="R7fae79e4a74c4cc6" /><Relationship Type="http://schemas.openxmlformats.org/officeDocument/2006/relationships/officeDocument" Target="/ppt/presentation.xml" Id="R4bba6a20f77240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d47f89bacc4e26"/>
  </p:sldMasterIdLst>
  <p:notesMasterIdLst>
    <p:notesMasterId xmlns:r="http://schemas.openxmlformats.org/officeDocument/2006/relationships" r:id="Rb1ed8ffdbc7c43a4"/>
  </p:notesMasterIdLst>
  <p:sldIdLst>
    <p:sldId xmlns:r="http://schemas.openxmlformats.org/officeDocument/2006/relationships" id="256" r:id="Rb2bc67a0d7934b0c"/>
    <p:sldId xmlns:r="http://schemas.openxmlformats.org/officeDocument/2006/relationships" id="257" r:id="R71b068bec6e44935"/>
    <p:sldId xmlns:r="http://schemas.openxmlformats.org/officeDocument/2006/relationships" id="258" r:id="R0d92b0001b1a4560"/>
    <p:sldId xmlns:r="http://schemas.openxmlformats.org/officeDocument/2006/relationships" id="259" r:id="R7f2ead8a3c854247"/>
    <p:sldId xmlns:r="http://schemas.openxmlformats.org/officeDocument/2006/relationships" id="260" r:id="R144d2eae6d8549c1"/>
    <p:sldId xmlns:r="http://schemas.openxmlformats.org/officeDocument/2006/relationships" id="261" r:id="Rfa6d54688e4a4bf2"/>
    <p:sldId xmlns:r="http://schemas.openxmlformats.org/officeDocument/2006/relationships" id="262" r:id="R3635b2500c164eef"/>
    <p:sldId xmlns:r="http://schemas.openxmlformats.org/officeDocument/2006/relationships" id="263" r:id="R2eee3522da4a43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6fc3e8e5ea4570" /><Relationship Type="http://schemas.openxmlformats.org/officeDocument/2006/relationships/slideMaster" Target="/ppt/slideMasters/slideMaster1.xml" Id="R43d47f89bacc4e26" /><Relationship Type="http://schemas.openxmlformats.org/officeDocument/2006/relationships/notesMaster" Target="/ppt/notesMasters/notesMaster1.xml" Id="Rb1ed8ffdbc7c43a4" /><Relationship Type="http://schemas.openxmlformats.org/officeDocument/2006/relationships/presProps" Target="/ppt/presProps.xml" Id="R086ee17b311146cd" /><Relationship Type="http://schemas.openxmlformats.org/officeDocument/2006/relationships/tableStyles" Target="/ppt/tableStyles.xml" Id="R55071674c8d24616" /><Relationship Type="http://schemas.openxmlformats.org/officeDocument/2006/relationships/slide" Target="/ppt/slides/slide1.xml" Id="Rb2bc67a0d7934b0c" /><Relationship Type="http://schemas.openxmlformats.org/officeDocument/2006/relationships/slide" Target="/ppt/slides/slide2.xml" Id="R71b068bec6e44935" /><Relationship Type="http://schemas.openxmlformats.org/officeDocument/2006/relationships/slide" Target="/ppt/slides/slide3.xml" Id="R0d92b0001b1a4560" /><Relationship Type="http://schemas.openxmlformats.org/officeDocument/2006/relationships/slide" Target="/ppt/slides/slide4.xml" Id="R7f2ead8a3c854247" /><Relationship Type="http://schemas.openxmlformats.org/officeDocument/2006/relationships/slide" Target="/ppt/slides/slide5.xml" Id="R144d2eae6d8549c1" /><Relationship Type="http://schemas.openxmlformats.org/officeDocument/2006/relationships/slide" Target="/ppt/slides/slide6.xml" Id="Rfa6d54688e4a4bf2" /><Relationship Type="http://schemas.openxmlformats.org/officeDocument/2006/relationships/slide" Target="/ppt/slides/slide7.xml" Id="R3635b2500c164eef" /><Relationship Type="http://schemas.openxmlformats.org/officeDocument/2006/relationships/slide" Target="/ppt/slides/slide8.xml" Id="R2eee3522da4a43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27f03b17ff49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bd9a32dbd644c1" /><Relationship Type="http://schemas.openxmlformats.org/officeDocument/2006/relationships/notesMaster" Target="/ppt/notesMasters/notesMaster1.xml" Id="Rb9e1958a1d9b48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4ed5477015486a" /><Relationship Type="http://schemas.openxmlformats.org/officeDocument/2006/relationships/notesMaster" Target="/ppt/notesMasters/notesMaster1.xml" Id="R6a1c5aa3035c4c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eff9db1a3944af" /><Relationship Type="http://schemas.openxmlformats.org/officeDocument/2006/relationships/notesMaster" Target="/ppt/notesMasters/notesMaster1.xml" Id="R3a66c4a13d504c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26114850fb4697" /><Relationship Type="http://schemas.openxmlformats.org/officeDocument/2006/relationships/notesMaster" Target="/ppt/notesMasters/notesMaster1.xml" Id="R3a19c312b6d142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3e8a754ca14e49" /><Relationship Type="http://schemas.openxmlformats.org/officeDocument/2006/relationships/notesMaster" Target="/ppt/notesMasters/notesMaster1.xml" Id="R30ef94361be548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b9a9c52d614ce3" /><Relationship Type="http://schemas.openxmlformats.org/officeDocument/2006/relationships/notesMaster" Target="/ppt/notesMasters/notesMaster1.xml" Id="R1a3723151d0541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3da5a44f164d5e" /><Relationship Type="http://schemas.openxmlformats.org/officeDocument/2006/relationships/notesMaster" Target="/ppt/notesMasters/notesMaster1.xml" Id="Rf6a730b754d64d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28b8291fe94219" /><Relationship Type="http://schemas.openxmlformats.org/officeDocument/2006/relationships/notesMaster" Target="/ppt/notesMasters/notesMaster1.xml" Id="Rfc603053e07347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Product labels communicate immediate hazard information and A Safety Data Sheet answers different questions in different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Use the hierarchy of controls before relying on PPE and Polishing and maintenance must be compatible with the finish.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Sustainability includes material, process and service life and Life-cycle thinking reveals trade-offs.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weeks15-16/index.html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7217365a8b46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52d029ea254760" /><Relationship Type="http://schemas.openxmlformats.org/officeDocument/2006/relationships/slideLayout" Target="/ppt/slideLayouts/slideLayout1.xml" Id="R48c77b1b874f4c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c77b1b874f4c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596e6952c426b" /><Relationship Type="http://schemas.openxmlformats.org/officeDocument/2006/relationships/image" Target="/ppt/media/image.jpeg" Id="Rf066c993eb594cac" /><Relationship Type="http://schemas.openxmlformats.org/officeDocument/2006/relationships/notesSlide" Target="/ppt/notesSlides/notesSlide1.xml" Id="R9fcfef2dc2c84c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a9695a1544ecb" /><Relationship Type="http://schemas.openxmlformats.org/officeDocument/2006/relationships/notesSlide" Target="/ppt/notesSlides/notesSlide2.xml" Id="R16ec724a87b14c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0fcf4d9bd46e4" /><Relationship Type="http://schemas.openxmlformats.org/officeDocument/2006/relationships/notesSlide" Target="/ppt/notesSlides/notesSlide3.xml" Id="R3a05912fd9b141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dd6222369d429d" /><Relationship Type="http://schemas.openxmlformats.org/officeDocument/2006/relationships/notesSlide" Target="/ppt/notesSlides/notesSlide4.xml" Id="Re0ea2b6fbf2a41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5276c97cd64bd0" /><Relationship Type="http://schemas.openxmlformats.org/officeDocument/2006/relationships/notesSlide" Target="/ppt/notesSlides/notesSlide5.xml" Id="Re74aef572de74a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dedb2984d4d93" /><Relationship Type="http://schemas.openxmlformats.org/officeDocument/2006/relationships/notesSlide" Target="/ppt/notesSlides/notesSlide6.xml" Id="Rb77f3229693249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52ee7c632429a" /><Relationship Type="http://schemas.openxmlformats.org/officeDocument/2006/relationships/notesSlide" Target="/ppt/notesSlides/notesSlide7.xml" Id="Ra6472d1ca0e040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ff9f5dd97411a" /><Relationship Type="http://schemas.openxmlformats.org/officeDocument/2006/relationships/notesSlide" Target="/ppt/notesSlides/notesSlide8.xml" Id="R5f8082344d6a4f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EC841-2B11-4C04-A278-457F9F77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C3B4B-7D8E-446C-8F9D-EB30CD05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010A4-3638-456E-8FD6-A5873A44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FB9A9-13FF-4485-B8D0-D9A8C786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D31"/>
                </a:solidFill>
              </a:defRPr>
            </a:pPr>
            <a:r>
              <a:rPr sz="4050" b="1">
                <a:solidFill>
                  <a:srgbClr val="173D31"/>
                </a:solidFill>
              </a:rPr>
              <a:t>Chemical safety, Safety Data Sheets, polishing, sustainability and product life 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62662-358E-4806-8632-DF84A4D2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15–16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78152-7C9C-4005-A3E4-BB801232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4D0B7-1A48-4B99-938C-7ED964B2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AE514-7399-46D8-ACCC-5849688D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1BC"/>
          </a:solidFill>
          <a:ln xmlns:a="http://schemas.openxmlformats.org/drawingml/2006/main" w="0">
            <a:solidFill>
              <a:srgbClr val="EBD1BC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6c993eb594cac"/>
          <a:stretch xmlns:a="http://schemas.openxmlformats.org/drawingml/2006/main"/>
        </p:blipFill>
        <p:spPr>
          <a:xfrm xmlns:a="http://schemas.openxmlformats.org/drawingml/2006/main">
            <a:off x="7658100" y="2076122"/>
            <a:ext cx="3714750" cy="2591457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1920136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71B14F-4DCB-411D-91FD-EDF6BF2D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4C1FB-67C4-402E-B64F-A47E6085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F5111-5F03-4053-BD62-0D3F0E26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353F6-2A11-43E3-A259-E8DA9699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1EFDE-F30F-47F6-BDFA-D3D41871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363C5-50D0-4856-8449-9A700C08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54DC64-C86A-49D8-93D7-1CD0CEB0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84BB9-4A44-4F13-A44E-18DA3386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Product labels communicate immediate hazard information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10E7B-367F-4C8F-9699-E3C37A5FB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B95A5-8E31-4036-909A-39BA29D0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F2D10-00A1-43D2-958E-1A329F90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 Safety Data Sheet answers different questions in different sections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0CFE38-CE0D-4C18-83AD-D5CE0784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D5702-573B-4CD0-A4CA-0CA455C4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20BF5-E5B3-4AB4-B92C-BC8041A15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Use the hierarchy of controls before relying on PPE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0AF2C-0148-41CB-8460-6059E31D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64989-986D-4D9C-9454-D7D7A9FE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6C7B3-9411-4CE3-A76F-4805F378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Polishing and maintenance must be compatible with the finish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6D0C2C-FB86-465A-8043-AC0348CE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FF8933-0D72-49A1-825A-D19C1D74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FA298-D056-4A24-BE59-5646913F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Sustainability includes material, process and service life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1BBBA5-D061-4A77-9FBB-3D59AED7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1F437B-8171-468C-BE41-E13E9E01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8E4F16-7CFB-414F-863D-C57FBB66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Life-cycle thinking reveals trade-offs</a:t>
            </a:r>
          </a:p>
        </p:txBody>
      </p:sp>
    </p:spTree>
    <p:extLst>
      <p:ext uri="{BB962C8B-B14F-4D97-AF65-F5344CB8AC3E}">
        <p14:creationId xmlns:p14="http://schemas.microsoft.com/office/powerpoint/2010/main" val="10736216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CE9838-E2BF-4F1E-A67F-320E2864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D743D-3178-4754-861A-568D07F5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453525-2F85-40CA-B297-CA09672F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C1E08-F777-4F9D-94FB-E6DF256E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Product labels communicate immediate hazard information…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F6862-33EE-4D77-95E3-9E385C0D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9989F-00B6-4F43-906B-416BA78D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Product labels communicate immediate hazard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9FC2B8-9EB9-4F3A-BBE1-941988D9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product label identifies what the chemical is, how it is intended to be used and the most important immediate precautions.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8F09DB-B73A-47A4-92CF-6199F633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F5CC1-09D5-46B7-8A90-8ACD1021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A Safety Data Sheet answers different questions in different sections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E5189F-A169-48BE-A387-919C948D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An SDS is organised into 16 standard sections.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EEDC37-4AC1-46B6-BC9C-FAA028EC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642643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A61AF-BB26-4C4F-9B1F-68ED375F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994C6-C7CB-4A71-9223-07F3012E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EBA4F7-A5AB-448D-8A7A-75465B31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5E4E6-FBF8-4C7E-B4C5-211CF511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Use the hierarchy of controls before relying on PPE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1A7BC-8BF6-44DA-BC2E-3ACCEDC0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7AD5D-D107-4D09-9D22-BA619FF8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Use the hierarchy of controls before relying on PPE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E2821-E5D0-4C20-948C-9EBF6C96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hierarchy ranks risk-control approaches from more effective to less effective.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3CEAF-E638-498E-8E93-60B11970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AA3AA-8280-4088-BEFA-06BB8C72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Polishing and maintenance must be compatible with the finish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B2D36-0AF9-47DA-9527-6799C679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Polishing may mean lightly refining a cured coating, applying a compatible wax or maintenance product, or cleaning and restoring sheen.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0E0C3-0B41-467F-A979-5B8A3DCC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6622595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7E9F94-3878-4B2F-B975-D0403E4D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78F59-B1BC-4974-BB45-146E6E1A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9E4E6-F0D8-4384-B12F-3634A502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2F0C7-5D7A-425C-9D17-C05593C8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Sustainability includes material, process and service…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F97B2-B19A-4841-ADD6-315F16D2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7D5298-CEAD-45F3-A4FC-FFB9F15B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Sustainability includes material, process and service life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2E961-D5CB-4B27-8ACA-B11DF7C0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Timber can be renewable, but sustainability also depends on forestry management, transport, processing energy, product yield and the chair’s useful life.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C072A-7240-4FD7-8892-073947F7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5C1D2-D160-4F88-AF7D-2674AB8A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66A3C"/>
                </a:solidFill>
              </a:defRPr>
            </a:pPr>
            <a:r>
              <a:rPr sz="1650" b="1">
                <a:solidFill>
                  <a:srgbClr val="B66A3C"/>
                </a:solidFill>
              </a:rPr>
              <a:t>Life-cycle thinking reveals trade-offs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638EE-D1C7-4E15-BE35-D36CAFE5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life-cycle evaluation asks where the largest realistic impacts occur and which design decision can improve them.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49AD6-33AC-4F74-A2A5-B9607748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446837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8E823-943F-4570-9D47-9D7B4233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8C959-CDAE-42AA-A25F-D7ACBF96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163C4-5492-429C-BD00-A1E18ED3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996FD-7343-439D-A2CC-EE13093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22BFF-FD4A-4283-86E8-62368D3B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EAEE2-678D-484F-BC57-823DFC21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Product labels communicate immediate hazard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B2525-9433-43A0-8BFD-EF592D73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60646-CAC4-44A2-B6F0-359D607A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Polishing and maintenance must be compatible with the finish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63455-D401-4416-B0C8-B4741AE1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6A3C"/>
                </a:solidFill>
              </a:defRPr>
            </a:pPr>
            <a:r>
              <a:rPr sz="1575" b="1">
                <a:solidFill>
                  <a:srgbClr val="B66A3C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24BE2-2D57-4BD5-9050-892C2DE1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Life-cycle thinking reveals trade-offs</a:t>
            </a:r>
          </a:p>
        </p:txBody>
      </p:sp>
    </p:spTree>
    <p:extLst>
      <p:ext uri="{BB962C8B-B14F-4D97-AF65-F5344CB8AC3E}">
        <p14:creationId xmlns:p14="http://schemas.microsoft.com/office/powerpoint/2010/main" val="8384064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BFF68B-38DC-4A19-81BB-EB685807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B1099-B8F7-46FD-87A8-97A3B5CA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922B0E-1A23-4BBA-9D7C-6F8C26C5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863DE3-D6A2-41A2-A51D-22831B99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B73CB7-9900-4E7D-9490-0CD9BC51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6D821-062E-4560-AF22-CC9327DF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2D054-837A-4848-8BC3-A3E5DE32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4B352-4A66-4B8B-B6A4-FB88D6C8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80A3B6-7741-4673-B13B-C8E5E1B7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BE6BA-00DD-4D56-843A-C42B7C79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11032-EC75-477C-A8AE-6C96A5DC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94B55-EB73-43FF-9A30-DCE4B85E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C2820F-0227-461B-90F0-EAF50CEF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1EE8FD-F99C-463C-949A-55809671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6A3C"/>
                </a:solidFill>
              </a:defRPr>
            </a:pPr>
            <a:r>
              <a:rPr sz="2100" b="1">
                <a:solidFill>
                  <a:srgbClr val="B66A3C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433F5B-CA53-4590-A390-9BF47017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2008843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305504-233A-4495-88A6-81ADE048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6A3C"/>
          </a:solidFill>
          <a:ln xmlns:a="http://schemas.openxmlformats.org/drawingml/2006/main" w="0">
            <a:solidFill>
              <a:srgbClr val="B66A3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206E6-935E-452E-9154-B8E5876A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66A3C"/>
                </a:solidFill>
              </a:defRPr>
            </a:pPr>
            <a:r>
              <a:rPr sz="1050" b="1">
                <a:solidFill>
                  <a:srgbClr val="B66A3C"/>
                </a:solidFill>
              </a:rPr>
              <a:t>FOLDING CHAIR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3AECF-3DDE-4544-A27A-7CC15254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15–16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CEC90-7B3E-4DA8-BB4B-0B753553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39EC5-DDAB-48A4-8DA0-F715AAF9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82C698-C171-4EA0-9AD8-310B66C6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F572F-44F5-4C81-A8F1-14AE1462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Product labels communicate immediate hazard information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470C6-0FD5-46E7-A756-B52D5C45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54A85-8DE3-4E65-B066-6597E4E3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1F6DA4-A062-495A-8FB3-391A9599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D0792-3B90-4602-8059-15DAB14C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22FC7A-95E1-429D-AFFB-D6BEA0AD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66A3C"/>
                </a:solidFill>
              </a:defRPr>
            </a:pPr>
            <a:r>
              <a:rPr sz="1350" b="1">
                <a:solidFill>
                  <a:srgbClr val="B66A3C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98560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2026-08-16T02:12:46.4870000Z</dcterms:created>
  <dcterms:modified xsi:type="dcterms:W3CDTF">2026-08-16T02:12:46.4870000Z</dcterms:modified>
</coreProperties>
</file>